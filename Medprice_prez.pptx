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aser Arabic" charset="1" panose="00000500000000000000"/>
      <p:regular r:id="rId17"/>
    </p:embeddedFont>
    <p:embeddedFont>
      <p:font typeface="Canva Sans Italics" charset="1" panose="020B0503030501040103"/>
      <p:regular r:id="rId18"/>
    </p:embeddedFont>
    <p:embeddedFont>
      <p:font typeface="Canva Sans" charset="1" panose="020B0503030501040103"/>
      <p:regular r:id="rId19"/>
    </p:embeddedFont>
    <p:embeddedFont>
      <p:font typeface="Canva Sans Medium" charset="1" panose="020B0603030501040103"/>
      <p:regular r:id="rId20"/>
    </p:embeddedFont>
    <p:embeddedFont>
      <p:font typeface="Canva Sans Bold" charset="1" panose="020B0803030501040103"/>
      <p:regular r:id="rId21"/>
    </p:embeddedFont>
    <p:embeddedFont>
      <p:font typeface="Glacial Indifference Bold" charset="1" panose="00000800000000000000"/>
      <p:regular r:id="rId22"/>
    </p:embeddedFont>
    <p:embeddedFont>
      <p:font typeface="Glacial Indifference" charset="1" panose="00000000000000000000"/>
      <p:regular r:id="rId23"/>
    </p:embeddedFont>
    <p:embeddedFont>
      <p:font typeface="Bricolage Grotesque Bold" charset="1" panose="020B0605040402000204"/>
      <p:regular r:id="rId24"/>
    </p:embeddedFont>
    <p:embeddedFont>
      <p:font typeface="Open Sans Bold" charset="1" panose="020B0806030504020204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284825" y="3594263"/>
            <a:ext cx="11718350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MED-PRICE KZ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44021" y="7286624"/>
            <a:ext cx="654337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МРТ, УДЗ, талдаулар мен дәрігер консультацияларына ең тиімді бағаны 24 қала бойынша жылдам табыңыз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99789" y="6032499"/>
            <a:ext cx="923183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Қазақстандағы медициналық қызметтер бағасының тұңғыш агрегаторы және салыстыру сервисі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3928" y="1462267"/>
            <a:ext cx="15300144" cy="235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8"/>
              </a:lnSpc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30 команда</a:t>
            </a:r>
          </a:p>
          <a:p>
            <a:pPr algn="ctr">
              <a:lnSpc>
                <a:spcPts val="4708"/>
              </a:lnSpc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Қазақстандағы медициналық қызметтердің бағаларын салыстыруға арналған агрегатор және жүйе</a:t>
            </a:r>
          </a:p>
          <a:p>
            <a:pPr algn="ctr">
              <a:lnSpc>
                <a:spcPts val="47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2162" y="4552873"/>
            <a:ext cx="8601838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                                    Баға алшақтығы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b="true" sz="24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2.5 есеге дейінгі айырмашылық: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Бір қызметтің құны (мысалы, бас миының МРТ-сы) әртүрлі емханаларда 18 000 ₸ - 45 000 ₸ аралығында өзгереді.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b="true" sz="24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Бірыңғай дереккөз жоқ: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Пациенттер бағаларды қолмен салыстыру үшін 5-10 клиникаға қоңырау шалуға мәжбүр.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209388" y="2225692"/>
            <a:ext cx="18706777" cy="190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МӘСЕЛЕ: НАРЫҚТЫҢ ЖАБЫҚТЫҒЫ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132355" y="921067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086242"/>
            <a:ext cx="8982391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                                                     </a:t>
            </a:r>
            <a:r>
              <a:rPr lang="en-US" b="true" sz="24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Іздеу қиындығы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Баламаның жоқтығы:</a:t>
            </a:r>
            <a:r>
              <a:rPr lang="en-US" b="true" sz="2499" strike="noStrike" u="non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Жақын маңда арзанырақ немесе рейтингі жақсырақ балама тұрса да, адамдар үйреншікті клиникаға барады.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Өңірлік теңсіздік:</a:t>
            </a:r>
            <a:r>
              <a:rPr lang="en-US" b="true" sz="2499" strike="noStrike" u="non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Қызылорда, Жаңаөзен, Кентау сияқты шағын қалаларда ақпарат мүлдем шектеулі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5870" y="5177093"/>
            <a:ext cx="4517941" cy="2871533"/>
            <a:chOff x="0" y="0"/>
            <a:chExt cx="1466838" cy="932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6838" cy="932299"/>
            </a:xfrm>
            <a:custGeom>
              <a:avLst/>
              <a:gdLst/>
              <a:ahLst/>
              <a:cxnLst/>
              <a:rect r="r" b="b" t="t" l="l"/>
              <a:pathLst>
                <a:path h="932299" w="1466838">
                  <a:moveTo>
                    <a:pt x="87393" y="0"/>
                  </a:moveTo>
                  <a:lnTo>
                    <a:pt x="1379445" y="0"/>
                  </a:lnTo>
                  <a:cubicBezTo>
                    <a:pt x="1427711" y="0"/>
                    <a:pt x="1466838" y="39127"/>
                    <a:pt x="1466838" y="87393"/>
                  </a:cubicBezTo>
                  <a:lnTo>
                    <a:pt x="1466838" y="844906"/>
                  </a:lnTo>
                  <a:cubicBezTo>
                    <a:pt x="1466838" y="868084"/>
                    <a:pt x="1457631" y="890313"/>
                    <a:pt x="1441241" y="906702"/>
                  </a:cubicBezTo>
                  <a:cubicBezTo>
                    <a:pt x="1424852" y="923092"/>
                    <a:pt x="1402623" y="932299"/>
                    <a:pt x="1379445" y="932299"/>
                  </a:cubicBezTo>
                  <a:lnTo>
                    <a:pt x="87393" y="932299"/>
                  </a:lnTo>
                  <a:cubicBezTo>
                    <a:pt x="64215" y="932299"/>
                    <a:pt x="41986" y="923092"/>
                    <a:pt x="25597" y="906702"/>
                  </a:cubicBezTo>
                  <a:cubicBezTo>
                    <a:pt x="9207" y="890313"/>
                    <a:pt x="0" y="868084"/>
                    <a:pt x="0" y="844906"/>
                  </a:cubicBezTo>
                  <a:lnTo>
                    <a:pt x="0" y="87393"/>
                  </a:lnTo>
                  <a:cubicBezTo>
                    <a:pt x="0" y="64215"/>
                    <a:pt x="9207" y="41986"/>
                    <a:pt x="25597" y="25597"/>
                  </a:cubicBezTo>
                  <a:cubicBezTo>
                    <a:pt x="41986" y="9207"/>
                    <a:pt x="64215" y="0"/>
                    <a:pt x="873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6838" cy="97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97169" y="5929967"/>
            <a:ext cx="3715345" cy="21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Ақылды іздеу</a:t>
            </a:r>
          </a:p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Қызмет атауын жазып, қалаңыздағы барлық емханалардың бағасын бір мезетте алыңыз.</a:t>
            </a:r>
          </a:p>
          <a:p>
            <a:pPr algn="ctr">
              <a:lnSpc>
                <a:spcPts val="2527"/>
              </a:lnSpc>
            </a:pPr>
          </a:p>
          <a:p>
            <a:pPr algn="ctr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19940"/>
            <a:ext cx="16230600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ШЕШІМ: АҚЫЛДЫ ІЗДЕУ ЖҮЙЕСІ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86888" y="5177093"/>
            <a:ext cx="4517941" cy="2871533"/>
            <a:chOff x="0" y="0"/>
            <a:chExt cx="1466838" cy="9322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6838" cy="932299"/>
            </a:xfrm>
            <a:custGeom>
              <a:avLst/>
              <a:gdLst/>
              <a:ahLst/>
              <a:cxnLst/>
              <a:rect r="r" b="b" t="t" l="l"/>
              <a:pathLst>
                <a:path h="932299" w="1466838">
                  <a:moveTo>
                    <a:pt x="87393" y="0"/>
                  </a:moveTo>
                  <a:lnTo>
                    <a:pt x="1379445" y="0"/>
                  </a:lnTo>
                  <a:cubicBezTo>
                    <a:pt x="1427711" y="0"/>
                    <a:pt x="1466838" y="39127"/>
                    <a:pt x="1466838" y="87393"/>
                  </a:cubicBezTo>
                  <a:lnTo>
                    <a:pt x="1466838" y="844906"/>
                  </a:lnTo>
                  <a:cubicBezTo>
                    <a:pt x="1466838" y="868084"/>
                    <a:pt x="1457631" y="890313"/>
                    <a:pt x="1441241" y="906702"/>
                  </a:cubicBezTo>
                  <a:cubicBezTo>
                    <a:pt x="1424852" y="923092"/>
                    <a:pt x="1402623" y="932299"/>
                    <a:pt x="1379445" y="932299"/>
                  </a:cubicBezTo>
                  <a:lnTo>
                    <a:pt x="87393" y="932299"/>
                  </a:lnTo>
                  <a:cubicBezTo>
                    <a:pt x="64215" y="932299"/>
                    <a:pt x="41986" y="923092"/>
                    <a:pt x="25597" y="906702"/>
                  </a:cubicBezTo>
                  <a:cubicBezTo>
                    <a:pt x="9207" y="890313"/>
                    <a:pt x="0" y="868084"/>
                    <a:pt x="0" y="844906"/>
                  </a:cubicBezTo>
                  <a:lnTo>
                    <a:pt x="0" y="87393"/>
                  </a:lnTo>
                  <a:cubicBezTo>
                    <a:pt x="0" y="64215"/>
                    <a:pt x="9207" y="41986"/>
                    <a:pt x="25597" y="25597"/>
                  </a:cubicBezTo>
                  <a:cubicBezTo>
                    <a:pt x="41986" y="9207"/>
                    <a:pt x="64215" y="0"/>
                    <a:pt x="873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6838" cy="97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62054" y="5177093"/>
            <a:ext cx="4517941" cy="2871533"/>
            <a:chOff x="0" y="0"/>
            <a:chExt cx="1466838" cy="932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6838" cy="932299"/>
            </a:xfrm>
            <a:custGeom>
              <a:avLst/>
              <a:gdLst/>
              <a:ahLst/>
              <a:cxnLst/>
              <a:rect r="r" b="b" t="t" l="l"/>
              <a:pathLst>
                <a:path h="932299" w="1466838">
                  <a:moveTo>
                    <a:pt x="87393" y="0"/>
                  </a:moveTo>
                  <a:lnTo>
                    <a:pt x="1379445" y="0"/>
                  </a:lnTo>
                  <a:cubicBezTo>
                    <a:pt x="1427711" y="0"/>
                    <a:pt x="1466838" y="39127"/>
                    <a:pt x="1466838" y="87393"/>
                  </a:cubicBezTo>
                  <a:lnTo>
                    <a:pt x="1466838" y="844906"/>
                  </a:lnTo>
                  <a:cubicBezTo>
                    <a:pt x="1466838" y="868084"/>
                    <a:pt x="1457631" y="890313"/>
                    <a:pt x="1441241" y="906702"/>
                  </a:cubicBezTo>
                  <a:cubicBezTo>
                    <a:pt x="1424852" y="923092"/>
                    <a:pt x="1402623" y="932299"/>
                    <a:pt x="1379445" y="932299"/>
                  </a:cubicBezTo>
                  <a:lnTo>
                    <a:pt x="87393" y="932299"/>
                  </a:lnTo>
                  <a:cubicBezTo>
                    <a:pt x="64215" y="932299"/>
                    <a:pt x="41986" y="923092"/>
                    <a:pt x="25597" y="906702"/>
                  </a:cubicBezTo>
                  <a:cubicBezTo>
                    <a:pt x="9207" y="890313"/>
                    <a:pt x="0" y="868084"/>
                    <a:pt x="0" y="844906"/>
                  </a:cubicBezTo>
                  <a:lnTo>
                    <a:pt x="0" y="87393"/>
                  </a:lnTo>
                  <a:cubicBezTo>
                    <a:pt x="0" y="64215"/>
                    <a:pt x="9207" y="41986"/>
                    <a:pt x="25597" y="25597"/>
                  </a:cubicBezTo>
                  <a:cubicBezTo>
                    <a:pt x="41986" y="9207"/>
                    <a:pt x="64215" y="0"/>
                    <a:pt x="8739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6838" cy="97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61751" y="4326623"/>
            <a:ext cx="1266730" cy="126673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21473" y="4515650"/>
            <a:ext cx="2266736" cy="77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7"/>
              </a:lnSpc>
              <a:spcBef>
                <a:spcPct val="0"/>
              </a:spcBef>
            </a:pPr>
            <a:r>
              <a:rPr lang="en-US" sz="45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74488" y="921067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52768" y="4326623"/>
            <a:ext cx="1266730" cy="126673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012491" y="4515650"/>
            <a:ext cx="2266736" cy="77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7"/>
              </a:lnSpc>
              <a:spcBef>
                <a:spcPct val="0"/>
              </a:spcBef>
            </a:pPr>
            <a:r>
              <a:rPr lang="en-US" sz="45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743786" y="4326623"/>
            <a:ext cx="1266730" cy="126673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203508" y="4515650"/>
            <a:ext cx="2266736" cy="77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7"/>
              </a:lnSpc>
              <a:spcBef>
                <a:spcPct val="0"/>
              </a:spcBef>
            </a:pPr>
            <a:r>
              <a:rPr lang="en-US" sz="45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88186" y="5929967"/>
            <a:ext cx="3715345" cy="186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Үздік баға белгісі</a:t>
            </a:r>
          </a:p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Платформа ең тиімді және қолайлы ұсынысты «Ең үздік баға» индикаторымен автоматты түрде ерекшелейді.</a:t>
            </a:r>
          </a:p>
          <a:p>
            <a:pPr algn="ctr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2463353" y="5929967"/>
            <a:ext cx="3715345" cy="155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Сенімді салыстыру</a:t>
            </a:r>
          </a:p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Бір кесте арқылы 4 клиниканың бағасын, рейтингін, ауданы мен жұмыс тілін салыстырыңыз.</a:t>
            </a:r>
          </a:p>
          <a:p>
            <a:pPr algn="ctr">
              <a:lnSpc>
                <a:spcPts val="25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523" y="1764401"/>
            <a:ext cx="17891710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ДЕМО: ІЗДЕУ ЖӘНЕ САЛЫСТЫРУ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086169" y="4162004"/>
            <a:ext cx="4309071" cy="43090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34790" y="5641367"/>
            <a:ext cx="3392586" cy="150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64859" indent="-232429" lvl="1">
              <a:lnSpc>
                <a:spcPts val="3014"/>
              </a:lnSpc>
              <a:buFont typeface="Arial"/>
              <a:buChar char="•"/>
            </a:pPr>
            <a:r>
              <a:rPr lang="en-US" b="true" sz="215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Қаланы таңдау:</a:t>
            </a:r>
            <a:r>
              <a:rPr lang="en-US" sz="21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Мысалы, Алматы қаласын таңдайсыз.</a:t>
            </a:r>
          </a:p>
          <a:p>
            <a:pPr algn="ctr">
              <a:lnSpc>
                <a:spcPts val="301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14030" y="4468122"/>
            <a:ext cx="2434105" cy="86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9"/>
              </a:lnSpc>
              <a:spcBef>
                <a:spcPct val="0"/>
              </a:spcBef>
            </a:pPr>
            <a:r>
              <a:rPr lang="en-US" sz="5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989464" y="4162004"/>
            <a:ext cx="4309071" cy="430907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438085" y="5296011"/>
            <a:ext cx="3392586" cy="24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Жылдам іздеу:</a:t>
            </a: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Қызметті енгізген сәтте жүйе базадағы барлық сәйкестікті іздеп табады.</a:t>
            </a:r>
          </a:p>
          <a:p>
            <a:pPr algn="ctr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Сұрыптау:</a:t>
            </a:r>
            <a:r>
              <a:rPr lang="en-US" sz="15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Нәтижелерді бағасы, рейтингі немесе орналасқан ауданы бойынша реттеңіз.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917326" y="4468122"/>
            <a:ext cx="2434105" cy="86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9"/>
              </a:lnSpc>
              <a:spcBef>
                <a:spcPct val="0"/>
              </a:spcBef>
            </a:pPr>
            <a:r>
              <a:rPr lang="en-US" sz="5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892760" y="4162004"/>
            <a:ext cx="4309071" cy="430907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341381" y="5641367"/>
            <a:ext cx="3392586" cy="264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64859" indent="-232429" lvl="1">
              <a:lnSpc>
                <a:spcPts val="3014"/>
              </a:lnSpc>
              <a:buFont typeface="Arial"/>
              <a:buChar char="•"/>
            </a:pPr>
            <a:r>
              <a:rPr lang="en-US" b="true" sz="215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Салыстыру:</a:t>
            </a:r>
            <a:r>
              <a:rPr lang="en-US" sz="21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Ыңғайлы клиникаларды тауып, «Салыстыру» батырмасымен ортақ кестеге жіберіңіз.</a:t>
            </a:r>
          </a:p>
          <a:p>
            <a:pPr algn="ctr">
              <a:lnSpc>
                <a:spcPts val="3014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820622" y="4468122"/>
            <a:ext cx="2434105" cy="86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9"/>
              </a:lnSpc>
              <a:spcBef>
                <a:spcPct val="0"/>
              </a:spcBef>
            </a:pPr>
            <a:r>
              <a:rPr lang="en-US" sz="5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1751" y="895350"/>
            <a:ext cx="11564498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ДЕМО: ИННОВАЦИЯЛЫҚ AI-КЕҢЕСШІ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80725" y="4302125"/>
            <a:ext cx="6966250" cy="3713986"/>
            <a:chOff x="0" y="0"/>
            <a:chExt cx="1834733" cy="9781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4733" cy="978169"/>
            </a:xfrm>
            <a:custGeom>
              <a:avLst/>
              <a:gdLst/>
              <a:ahLst/>
              <a:cxnLst/>
              <a:rect r="r" b="b" t="t" l="l"/>
              <a:pathLst>
                <a:path h="978169" w="1834733">
                  <a:moveTo>
                    <a:pt x="56679" y="0"/>
                  </a:moveTo>
                  <a:lnTo>
                    <a:pt x="1778054" y="0"/>
                  </a:lnTo>
                  <a:cubicBezTo>
                    <a:pt x="1793086" y="0"/>
                    <a:pt x="1807502" y="5971"/>
                    <a:pt x="1818132" y="16601"/>
                  </a:cubicBezTo>
                  <a:cubicBezTo>
                    <a:pt x="1828761" y="27230"/>
                    <a:pt x="1834733" y="41647"/>
                    <a:pt x="1834733" y="56679"/>
                  </a:cubicBezTo>
                  <a:lnTo>
                    <a:pt x="1834733" y="921491"/>
                  </a:lnTo>
                  <a:cubicBezTo>
                    <a:pt x="1834733" y="952793"/>
                    <a:pt x="1809357" y="978169"/>
                    <a:pt x="1778054" y="978169"/>
                  </a:cubicBezTo>
                  <a:lnTo>
                    <a:pt x="56679" y="978169"/>
                  </a:lnTo>
                  <a:cubicBezTo>
                    <a:pt x="25376" y="978169"/>
                    <a:pt x="0" y="952793"/>
                    <a:pt x="0" y="921491"/>
                  </a:cubicBezTo>
                  <a:lnTo>
                    <a:pt x="0" y="56679"/>
                  </a:lnTo>
                  <a:cubicBezTo>
                    <a:pt x="0" y="25376"/>
                    <a:pt x="25376" y="0"/>
                    <a:pt x="5667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4733" cy="1016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02214" y="4244975"/>
            <a:ext cx="4456640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Claude API негізіндегі көмекші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Жүйе қазақ және орыс тілдерінде нақты уақытта платформаның шынайы деректерімен жауап береді.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566550" y="4302125"/>
            <a:ext cx="6966250" cy="3713986"/>
            <a:chOff x="0" y="0"/>
            <a:chExt cx="1834733" cy="978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4733" cy="978169"/>
            </a:xfrm>
            <a:custGeom>
              <a:avLst/>
              <a:gdLst/>
              <a:ahLst/>
              <a:cxnLst/>
              <a:rect r="r" b="b" t="t" l="l"/>
              <a:pathLst>
                <a:path h="978169" w="1834733">
                  <a:moveTo>
                    <a:pt x="56679" y="0"/>
                  </a:moveTo>
                  <a:lnTo>
                    <a:pt x="1778054" y="0"/>
                  </a:lnTo>
                  <a:cubicBezTo>
                    <a:pt x="1793086" y="0"/>
                    <a:pt x="1807502" y="5971"/>
                    <a:pt x="1818132" y="16601"/>
                  </a:cubicBezTo>
                  <a:cubicBezTo>
                    <a:pt x="1828761" y="27230"/>
                    <a:pt x="1834733" y="41647"/>
                    <a:pt x="1834733" y="56679"/>
                  </a:cubicBezTo>
                  <a:lnTo>
                    <a:pt x="1834733" y="921491"/>
                  </a:lnTo>
                  <a:cubicBezTo>
                    <a:pt x="1834733" y="952793"/>
                    <a:pt x="1809357" y="978169"/>
                    <a:pt x="1778054" y="978169"/>
                  </a:cubicBezTo>
                  <a:lnTo>
                    <a:pt x="56679" y="978169"/>
                  </a:lnTo>
                  <a:cubicBezTo>
                    <a:pt x="25376" y="978169"/>
                    <a:pt x="0" y="952793"/>
                    <a:pt x="0" y="921491"/>
                  </a:cubicBezTo>
                  <a:lnTo>
                    <a:pt x="0" y="56679"/>
                  </a:lnTo>
                  <a:cubicBezTo>
                    <a:pt x="0" y="25376"/>
                    <a:pt x="25376" y="0"/>
                    <a:pt x="5667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34733" cy="1016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375149" y="4273550"/>
            <a:ext cx="4482420" cy="406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Еркін сөйлесу:</a:t>
            </a:r>
            <a:r>
              <a:rPr lang="en-US" b="true" sz="18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Медициналық күрделі атауларды білу қажет емес, қарапайым тілмен түсіндіру жеткілікті.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Көпфакторлы таңдау:</a:t>
            </a:r>
            <a:r>
              <a:rPr lang="en-US" b="true" sz="18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Рейтингті, геолокацияны, қабылдау тілін және жұмыс уақытын есепке алады.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Өңірлерге қолжетімділік:</a:t>
            </a:r>
            <a:r>
              <a:rPr lang="en-US" b="true" sz="18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Ауылдық жерлер мен үлкен кісілердің іздеуін барынша жеңілдетеді.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68846" y="5048250"/>
            <a:ext cx="2266736" cy="91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  <a:spcBef>
                <a:spcPct val="0"/>
              </a:spcBef>
            </a:pPr>
            <a:r>
              <a:rPr lang="en-US" b="true" sz="5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1781" y="5048250"/>
            <a:ext cx="2266736" cy="91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  <a:spcBef>
                <a:spcPct val="0"/>
              </a:spcBef>
            </a:pPr>
            <a:r>
              <a:rPr lang="en-US" b="true" sz="54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61751" y="887747"/>
            <a:ext cx="11564498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ПЛАТФОРМАНЫҢ ҚАМТУ АЙМАҒЫ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6547" y="4572080"/>
            <a:ext cx="7386828" cy="417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405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Атыраудан Жаңаөзенге дейін</a:t>
            </a:r>
          </a:p>
          <a:p>
            <a:pPr algn="l">
              <a:lnSpc>
                <a:spcPts val="3367"/>
              </a:lnSpc>
            </a:pPr>
            <a:r>
              <a:rPr lang="en-US" sz="24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MedPrice KZ — бүкіл ел аумағындағы медициналық мекемелердің бағаларын біріктіретін алғашқы бірыңғай база.</a:t>
            </a:r>
          </a:p>
          <a:p>
            <a:pPr algn="l" marL="519253" indent="-259626" lvl="1">
              <a:lnSpc>
                <a:spcPts val="3367"/>
              </a:lnSpc>
              <a:buFont typeface="Arial"/>
              <a:buChar char="•"/>
            </a:pPr>
            <a:r>
              <a:rPr lang="en-US" b="true" sz="24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120-дан астам белсенді клиника</a:t>
            </a:r>
            <a:r>
              <a:rPr lang="en-US" sz="24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күнделікті базада жаңартылып отырады.</a:t>
            </a:r>
          </a:p>
          <a:p>
            <a:pPr algn="l" marL="519253" indent="-259626" lvl="1">
              <a:lnSpc>
                <a:spcPts val="3367"/>
              </a:lnSpc>
              <a:buFont typeface="Arial"/>
              <a:buChar char="•"/>
            </a:pPr>
            <a:r>
              <a:rPr lang="en-US" b="true" sz="24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 басты бағыт:</a:t>
            </a:r>
            <a:r>
              <a:rPr lang="en-US" sz="240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МРТ, УДЗ (УЗИ), талдаулар (лаборатория), кардиолог және ЭКГ қызметтері толық қолжетімді.</a:t>
            </a:r>
          </a:p>
          <a:p>
            <a:pPr algn="l">
              <a:lnSpc>
                <a:spcPts val="3367"/>
              </a:lnSpc>
            </a:pP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56456" y="3712804"/>
            <a:ext cx="6042944" cy="5386741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88767" y="812182"/>
            <a:ext cx="11564498" cy="471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b="true" sz="66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ІЗДЕУДЕН — ТІКЕЛЕЙ ЖАЗЫЛУҒА ДЕЙІН</a:t>
            </a:r>
          </a:p>
          <a:p>
            <a:pPr algn="ctr">
              <a:lnSpc>
                <a:spcPts val="9379"/>
              </a:lnSpc>
            </a:pPr>
          </a:p>
          <a:p>
            <a:pPr algn="ctr">
              <a:lnSpc>
                <a:spcPts val="937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488767" y="3953212"/>
            <a:ext cx="11821098" cy="42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7"/>
              </a:lnSpc>
            </a:pPr>
            <a:r>
              <a:rPr lang="en-US" sz="20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Түртумен қоңырау</a:t>
            </a:r>
          </a:p>
          <a:p>
            <a:pPr algn="l">
              <a:lnSpc>
                <a:spcPts val="2807"/>
              </a:lnSpc>
            </a:pPr>
            <a:r>
              <a:rPr lang="en-US" sz="2005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«Жазылу» батырмасын бассаңыз, клиниканың байланыс нөміріне бірден тікелей қоңырау шалынады.</a:t>
            </a:r>
          </a:p>
          <a:p>
            <a:pPr algn="l">
              <a:lnSpc>
                <a:spcPts val="2807"/>
              </a:lnSpc>
            </a:pPr>
          </a:p>
          <a:p>
            <a:pPr algn="l">
              <a:lnSpc>
                <a:spcPts val="2807"/>
              </a:lnSpc>
            </a:pPr>
            <a:r>
              <a:rPr lang="en-US" sz="20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Дайын WhatsApp чаты</a:t>
            </a:r>
          </a:p>
          <a:p>
            <a:pPr algn="l">
              <a:lnSpc>
                <a:spcPts val="2807"/>
              </a:lnSpc>
            </a:pPr>
            <a:r>
              <a:rPr lang="en-US" sz="2005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Таңдалған қызмет атауы мен келісілген бағасы жазылған хабарлама автоматты түрде дайындалады.</a:t>
            </a:r>
          </a:p>
          <a:p>
            <a:pPr algn="l">
              <a:lnSpc>
                <a:spcPts val="2807"/>
              </a:lnSpc>
            </a:pPr>
          </a:p>
          <a:p>
            <a:pPr algn="l">
              <a:lnSpc>
                <a:spcPts val="2807"/>
              </a:lnSpc>
            </a:pPr>
            <a:r>
              <a:rPr lang="en-US" sz="20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Картадағы бағыт</a:t>
            </a:r>
          </a:p>
          <a:p>
            <a:pPr algn="l">
              <a:lnSpc>
                <a:spcPts val="2807"/>
              </a:lnSpc>
            </a:pPr>
            <a:r>
              <a:rPr lang="en-US" sz="2005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Клиниканың дәл мекенжайы Google Maps арқылы ашылып, жету жолын жылдам көрсетіп береді.</a:t>
            </a:r>
          </a:p>
          <a:p>
            <a:pPr algn="l">
              <a:lnSpc>
                <a:spcPts val="280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1751" y="895350"/>
            <a:ext cx="11564498" cy="353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БИЗНЕС-МОДЕЛЬ ЖӘНЕ НАРЫҚ ӘЛЕУЕТІ</a:t>
            </a:r>
          </a:p>
          <a:p>
            <a:pPr algn="ctr">
              <a:lnSpc>
                <a:spcPts val="937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2143819" y="3802720"/>
            <a:ext cx="14000362" cy="4459565"/>
            <a:chOff x="0" y="0"/>
            <a:chExt cx="3687338" cy="11745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7338" cy="1174536"/>
            </a:xfrm>
            <a:custGeom>
              <a:avLst/>
              <a:gdLst/>
              <a:ahLst/>
              <a:cxnLst/>
              <a:rect r="r" b="b" t="t" l="l"/>
              <a:pathLst>
                <a:path h="1174536" w="3687338">
                  <a:moveTo>
                    <a:pt x="28202" y="0"/>
                  </a:moveTo>
                  <a:lnTo>
                    <a:pt x="3659136" y="0"/>
                  </a:lnTo>
                  <a:cubicBezTo>
                    <a:pt x="3674712" y="0"/>
                    <a:pt x="3687338" y="12626"/>
                    <a:pt x="3687338" y="28202"/>
                  </a:cubicBezTo>
                  <a:lnTo>
                    <a:pt x="3687338" y="1146334"/>
                  </a:lnTo>
                  <a:cubicBezTo>
                    <a:pt x="3687338" y="1161909"/>
                    <a:pt x="3674712" y="1174536"/>
                    <a:pt x="3659136" y="1174536"/>
                  </a:cubicBezTo>
                  <a:lnTo>
                    <a:pt x="28202" y="1174536"/>
                  </a:lnTo>
                  <a:cubicBezTo>
                    <a:pt x="12626" y="1174536"/>
                    <a:pt x="0" y="1161909"/>
                    <a:pt x="0" y="1146334"/>
                  </a:cubicBezTo>
                  <a:lnTo>
                    <a:pt x="0" y="28202"/>
                  </a:lnTo>
                  <a:cubicBezTo>
                    <a:pt x="0" y="12626"/>
                    <a:pt x="12626" y="0"/>
                    <a:pt x="2820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87338" cy="1212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87525" y="3556869"/>
            <a:ext cx="13712949" cy="490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5"/>
              </a:lnSpc>
              <a:spcBef>
                <a:spcPct val="0"/>
              </a:spcBef>
            </a:pPr>
          </a:p>
          <a:p>
            <a:pPr algn="ctr">
              <a:lnSpc>
                <a:spcPts val="3245"/>
              </a:lnSpc>
              <a:spcBef>
                <a:spcPct val="0"/>
              </a:spcBef>
            </a:pPr>
            <a:r>
              <a:rPr lang="en-US" b="true" sz="23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Табыс көздері</a:t>
            </a:r>
          </a:p>
          <a:p>
            <a:pPr algn="ctr" marL="500513" indent="-250257" lvl="1">
              <a:lnSpc>
                <a:spcPts val="32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Премиум-орналастыру:</a:t>
            </a:r>
            <a:r>
              <a:rPr lang="en-US" b="true" sz="23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Клиникалар іздеу тізімінің ең жоғарғы орындарына шығу үшін ақы төлейді.</a:t>
            </a:r>
          </a:p>
          <a:p>
            <a:pPr algn="ctr" marL="500513" indent="-250257" lvl="1">
              <a:lnSpc>
                <a:spcPts val="32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B2B-аналитика:</a:t>
            </a:r>
            <a:r>
              <a:rPr lang="en-US" b="true" sz="23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Сұраныс пен бәсекелестердің бағалары туралы толық талдау есептерін ұсыну.</a:t>
            </a:r>
          </a:p>
          <a:p>
            <a:pPr algn="ctr" marL="500513" indent="-250257" lvl="1">
              <a:lnSpc>
                <a:spcPts val="32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Жарнамалық акциялар:</a:t>
            </a:r>
            <a:r>
              <a:rPr lang="en-US" b="true" sz="23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Арнайы ұсыныстар мен жеңілдіктерді ақылы түрде ілгерілету.</a:t>
            </a:r>
          </a:p>
          <a:p>
            <a:pPr algn="ctr">
              <a:lnSpc>
                <a:spcPts val="3245"/>
              </a:lnSpc>
              <a:spcBef>
                <a:spcPct val="0"/>
              </a:spcBef>
            </a:pPr>
            <a:r>
              <a:rPr lang="en-US" b="true" sz="23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Нарық әлеуеті</a:t>
            </a:r>
          </a:p>
          <a:p>
            <a:pPr algn="ctr" marL="500513" indent="-250257" lvl="1">
              <a:lnSpc>
                <a:spcPts val="32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20+ миллион тұрғын:</a:t>
            </a:r>
            <a:r>
              <a:rPr lang="en-US" b="true" sz="23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Қазақстанның барлық азаматтары — біздің әлеуетті аудиториямыз.</a:t>
            </a:r>
          </a:p>
          <a:p>
            <a:pPr algn="ctr" marL="500513" indent="-250257" lvl="1">
              <a:lnSpc>
                <a:spcPts val="32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Масштабтау:</a:t>
            </a:r>
            <a:r>
              <a:rPr lang="en-US" b="true" sz="23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24 қала базада дайын, жаңа бағыттарды (стоматология, косметология) қосу өте оңай.</a:t>
            </a:r>
          </a:p>
          <a:p>
            <a:pPr algn="ctr">
              <a:lnSpc>
                <a:spcPts val="3245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39770"/>
            <a:ext cx="6296397" cy="2826899"/>
            <a:chOff x="0" y="0"/>
            <a:chExt cx="2120436" cy="952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0436" cy="952014"/>
            </a:xfrm>
            <a:custGeom>
              <a:avLst/>
              <a:gdLst/>
              <a:ahLst/>
              <a:cxnLst/>
              <a:rect r="r" b="b" t="t" l="l"/>
              <a:pathLst>
                <a:path h="952014" w="2120436">
                  <a:moveTo>
                    <a:pt x="62709" y="0"/>
                  </a:moveTo>
                  <a:lnTo>
                    <a:pt x="2057727" y="0"/>
                  </a:lnTo>
                  <a:cubicBezTo>
                    <a:pt x="2074359" y="0"/>
                    <a:pt x="2090309" y="6607"/>
                    <a:pt x="2102069" y="18367"/>
                  </a:cubicBezTo>
                  <a:cubicBezTo>
                    <a:pt x="2113829" y="30127"/>
                    <a:pt x="2120436" y="46077"/>
                    <a:pt x="2120436" y="62709"/>
                  </a:cubicBezTo>
                  <a:lnTo>
                    <a:pt x="2120436" y="889305"/>
                  </a:lnTo>
                  <a:cubicBezTo>
                    <a:pt x="2120436" y="905937"/>
                    <a:pt x="2113829" y="921887"/>
                    <a:pt x="2102069" y="933647"/>
                  </a:cubicBezTo>
                  <a:cubicBezTo>
                    <a:pt x="2090309" y="945407"/>
                    <a:pt x="2074359" y="952014"/>
                    <a:pt x="2057727" y="952014"/>
                  </a:cubicBezTo>
                  <a:lnTo>
                    <a:pt x="62709" y="952014"/>
                  </a:lnTo>
                  <a:cubicBezTo>
                    <a:pt x="46077" y="952014"/>
                    <a:pt x="30127" y="945407"/>
                    <a:pt x="18367" y="933647"/>
                  </a:cubicBezTo>
                  <a:cubicBezTo>
                    <a:pt x="6607" y="921887"/>
                    <a:pt x="0" y="905937"/>
                    <a:pt x="0" y="889305"/>
                  </a:cubicBezTo>
                  <a:lnTo>
                    <a:pt x="0" y="62709"/>
                  </a:lnTo>
                  <a:cubicBezTo>
                    <a:pt x="0" y="46077"/>
                    <a:pt x="6607" y="30127"/>
                    <a:pt x="18367" y="18367"/>
                  </a:cubicBezTo>
                  <a:cubicBezTo>
                    <a:pt x="30127" y="6607"/>
                    <a:pt x="46077" y="0"/>
                    <a:pt x="6270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20436" cy="990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61751" y="895350"/>
            <a:ext cx="11564498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ДАМУ ЖОСПАРЫ (АЛДАҒЫ ҚАДАМДАР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0806" y="4257263"/>
            <a:ext cx="5312185" cy="159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18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MVP Кезеңі</a:t>
            </a:r>
          </a:p>
          <a:p>
            <a:pPr algn="ctr">
              <a:lnSpc>
                <a:spcPts val="2591"/>
              </a:lnSpc>
            </a:pPr>
            <a:r>
              <a:rPr lang="en-US" sz="185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Іздеу, салыстыру, AI-кеңесші және қоңырау/WhatsApp арқылы жазылу функциясы дайын.</a:t>
            </a:r>
          </a:p>
          <a:p>
            <a:pPr algn="ctr">
              <a:lnSpc>
                <a:spcPts val="259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61363" y="3111282"/>
            <a:ext cx="2231072" cy="78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5"/>
              </a:lnSpc>
              <a:spcBef>
                <a:spcPct val="0"/>
              </a:spcBef>
            </a:pPr>
            <a:r>
              <a:rPr lang="en-US" sz="4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81123" y="3239770"/>
            <a:ext cx="6296397" cy="2826899"/>
            <a:chOff x="0" y="0"/>
            <a:chExt cx="2120436" cy="952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0436" cy="952014"/>
            </a:xfrm>
            <a:custGeom>
              <a:avLst/>
              <a:gdLst/>
              <a:ahLst/>
              <a:cxnLst/>
              <a:rect r="r" b="b" t="t" l="l"/>
              <a:pathLst>
                <a:path h="952014" w="2120436">
                  <a:moveTo>
                    <a:pt x="62709" y="0"/>
                  </a:moveTo>
                  <a:lnTo>
                    <a:pt x="2057727" y="0"/>
                  </a:lnTo>
                  <a:cubicBezTo>
                    <a:pt x="2074359" y="0"/>
                    <a:pt x="2090309" y="6607"/>
                    <a:pt x="2102069" y="18367"/>
                  </a:cubicBezTo>
                  <a:cubicBezTo>
                    <a:pt x="2113829" y="30127"/>
                    <a:pt x="2120436" y="46077"/>
                    <a:pt x="2120436" y="62709"/>
                  </a:cubicBezTo>
                  <a:lnTo>
                    <a:pt x="2120436" y="889305"/>
                  </a:lnTo>
                  <a:cubicBezTo>
                    <a:pt x="2120436" y="905937"/>
                    <a:pt x="2113829" y="921887"/>
                    <a:pt x="2102069" y="933647"/>
                  </a:cubicBezTo>
                  <a:cubicBezTo>
                    <a:pt x="2090309" y="945407"/>
                    <a:pt x="2074359" y="952014"/>
                    <a:pt x="2057727" y="952014"/>
                  </a:cubicBezTo>
                  <a:lnTo>
                    <a:pt x="62709" y="952014"/>
                  </a:lnTo>
                  <a:cubicBezTo>
                    <a:pt x="46077" y="952014"/>
                    <a:pt x="30127" y="945407"/>
                    <a:pt x="18367" y="933647"/>
                  </a:cubicBezTo>
                  <a:cubicBezTo>
                    <a:pt x="6607" y="921887"/>
                    <a:pt x="0" y="905937"/>
                    <a:pt x="0" y="889305"/>
                  </a:cubicBezTo>
                  <a:lnTo>
                    <a:pt x="0" y="62709"/>
                  </a:lnTo>
                  <a:cubicBezTo>
                    <a:pt x="0" y="46077"/>
                    <a:pt x="6607" y="30127"/>
                    <a:pt x="18367" y="18367"/>
                  </a:cubicBezTo>
                  <a:cubicBezTo>
                    <a:pt x="30127" y="6607"/>
                    <a:pt x="46077" y="0"/>
                    <a:pt x="6270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20436" cy="990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947115" y="4146309"/>
            <a:ext cx="5312185" cy="159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18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Серіктестік</a:t>
            </a:r>
          </a:p>
          <a:p>
            <a:pPr algn="ctr">
              <a:lnSpc>
                <a:spcPts val="2591"/>
              </a:lnSpc>
            </a:pPr>
            <a:r>
              <a:rPr lang="en-US" sz="185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Клиникаларды API және прайс-парсинг арқылы қосып, нақты уақыттағы бағаларды енгізу.</a:t>
            </a:r>
          </a:p>
          <a:p>
            <a:pPr algn="ctr">
              <a:lnSpc>
                <a:spcPts val="259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389565" y="3111282"/>
            <a:ext cx="2231072" cy="78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5"/>
              </a:lnSpc>
              <a:spcBef>
                <a:spcPct val="0"/>
              </a:spcBef>
            </a:pPr>
            <a:r>
              <a:rPr lang="en-US" sz="4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32355" y="9214025"/>
            <a:ext cx="4023291" cy="5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678130"/>
            <a:ext cx="6296397" cy="2826899"/>
            <a:chOff x="0" y="0"/>
            <a:chExt cx="2120436" cy="9520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0436" cy="952014"/>
            </a:xfrm>
            <a:custGeom>
              <a:avLst/>
              <a:gdLst/>
              <a:ahLst/>
              <a:cxnLst/>
              <a:rect r="r" b="b" t="t" l="l"/>
              <a:pathLst>
                <a:path h="952014" w="2120436">
                  <a:moveTo>
                    <a:pt x="62709" y="0"/>
                  </a:moveTo>
                  <a:lnTo>
                    <a:pt x="2057727" y="0"/>
                  </a:lnTo>
                  <a:cubicBezTo>
                    <a:pt x="2074359" y="0"/>
                    <a:pt x="2090309" y="6607"/>
                    <a:pt x="2102069" y="18367"/>
                  </a:cubicBezTo>
                  <a:cubicBezTo>
                    <a:pt x="2113829" y="30127"/>
                    <a:pt x="2120436" y="46077"/>
                    <a:pt x="2120436" y="62709"/>
                  </a:cubicBezTo>
                  <a:lnTo>
                    <a:pt x="2120436" y="889305"/>
                  </a:lnTo>
                  <a:cubicBezTo>
                    <a:pt x="2120436" y="905937"/>
                    <a:pt x="2113829" y="921887"/>
                    <a:pt x="2102069" y="933647"/>
                  </a:cubicBezTo>
                  <a:cubicBezTo>
                    <a:pt x="2090309" y="945407"/>
                    <a:pt x="2074359" y="952014"/>
                    <a:pt x="2057727" y="952014"/>
                  </a:cubicBezTo>
                  <a:lnTo>
                    <a:pt x="62709" y="952014"/>
                  </a:lnTo>
                  <a:cubicBezTo>
                    <a:pt x="46077" y="952014"/>
                    <a:pt x="30127" y="945407"/>
                    <a:pt x="18367" y="933647"/>
                  </a:cubicBezTo>
                  <a:cubicBezTo>
                    <a:pt x="6607" y="921887"/>
                    <a:pt x="0" y="905937"/>
                    <a:pt x="0" y="889305"/>
                  </a:cubicBezTo>
                  <a:lnTo>
                    <a:pt x="0" y="62709"/>
                  </a:lnTo>
                  <a:cubicBezTo>
                    <a:pt x="0" y="46077"/>
                    <a:pt x="6607" y="30127"/>
                    <a:pt x="18367" y="18367"/>
                  </a:cubicBezTo>
                  <a:cubicBezTo>
                    <a:pt x="30127" y="6607"/>
                    <a:pt x="46077" y="0"/>
                    <a:pt x="6270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20436" cy="990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Қызметтерді кеңейту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Стоматология, косметология, дәріханалар мен зертханалық талдауларды интеграциялау.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81123" y="6678130"/>
            <a:ext cx="6296397" cy="2826899"/>
            <a:chOff x="0" y="0"/>
            <a:chExt cx="2120436" cy="9520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0436" cy="952014"/>
            </a:xfrm>
            <a:custGeom>
              <a:avLst/>
              <a:gdLst/>
              <a:ahLst/>
              <a:cxnLst/>
              <a:rect r="r" b="b" t="t" l="l"/>
              <a:pathLst>
                <a:path h="952014" w="2120436">
                  <a:moveTo>
                    <a:pt x="62709" y="0"/>
                  </a:moveTo>
                  <a:lnTo>
                    <a:pt x="2057727" y="0"/>
                  </a:lnTo>
                  <a:cubicBezTo>
                    <a:pt x="2074359" y="0"/>
                    <a:pt x="2090309" y="6607"/>
                    <a:pt x="2102069" y="18367"/>
                  </a:cubicBezTo>
                  <a:cubicBezTo>
                    <a:pt x="2113829" y="30127"/>
                    <a:pt x="2120436" y="46077"/>
                    <a:pt x="2120436" y="62709"/>
                  </a:cubicBezTo>
                  <a:lnTo>
                    <a:pt x="2120436" y="889305"/>
                  </a:lnTo>
                  <a:cubicBezTo>
                    <a:pt x="2120436" y="905937"/>
                    <a:pt x="2113829" y="921887"/>
                    <a:pt x="2102069" y="933647"/>
                  </a:cubicBezTo>
                  <a:cubicBezTo>
                    <a:pt x="2090309" y="945407"/>
                    <a:pt x="2074359" y="952014"/>
                    <a:pt x="2057727" y="952014"/>
                  </a:cubicBezTo>
                  <a:lnTo>
                    <a:pt x="62709" y="952014"/>
                  </a:lnTo>
                  <a:cubicBezTo>
                    <a:pt x="46077" y="952014"/>
                    <a:pt x="30127" y="945407"/>
                    <a:pt x="18367" y="933647"/>
                  </a:cubicBezTo>
                  <a:cubicBezTo>
                    <a:pt x="6607" y="921887"/>
                    <a:pt x="0" y="905937"/>
                    <a:pt x="0" y="889305"/>
                  </a:cubicBezTo>
                  <a:lnTo>
                    <a:pt x="0" y="62709"/>
                  </a:lnTo>
                  <a:cubicBezTo>
                    <a:pt x="0" y="46077"/>
                    <a:pt x="6607" y="30127"/>
                    <a:pt x="18367" y="18367"/>
                  </a:cubicBezTo>
                  <a:cubicBezTo>
                    <a:pt x="30127" y="6607"/>
                    <a:pt x="46077" y="0"/>
                    <a:pt x="6270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20436" cy="990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061363" y="6592405"/>
            <a:ext cx="2231072" cy="78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5"/>
              </a:lnSpc>
              <a:spcBef>
                <a:spcPct val="0"/>
              </a:spcBef>
            </a:pPr>
            <a:r>
              <a:rPr lang="en-US" sz="4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87671" y="6592405"/>
            <a:ext cx="2231072" cy="78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5"/>
              </a:lnSpc>
              <a:spcBef>
                <a:spcPct val="0"/>
              </a:spcBef>
            </a:pPr>
            <a:r>
              <a:rPr lang="en-US" sz="4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73229" y="7514469"/>
            <a:ext cx="5312185" cy="159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18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Мобильді қолданба</a:t>
            </a:r>
          </a:p>
          <a:p>
            <a:pPr algn="ctr">
              <a:lnSpc>
                <a:spcPts val="2591"/>
              </a:lnSpc>
            </a:pPr>
            <a:r>
              <a:rPr lang="en-US" sz="185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Жеке кабинет, сұраныстар тарихы және маңызды жеңілдіктер туралы push-хабарландырулар.</a:t>
            </a:r>
          </a:p>
          <a:p>
            <a:pPr algn="ctr">
              <a:lnSpc>
                <a:spcPts val="259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4281" y="904875"/>
            <a:ext cx="13779438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Біз қолданған ақпарат көздері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01096" y="1982470"/>
            <a:ext cx="248580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Источник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Тип данных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Форма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609" y="2848928"/>
            <a:ext cx="7754487" cy="1416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kdl.kz / kdlolymp.kz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Лаборатория KDL — анализы, цены, сроки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HTML-страницы, прайс-листы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doq.kz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Агрегатор клиник — приёмы врачей, стоимость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HTML/JSON API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invitro.kz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Инвитро — лабораторные исследования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HTML, PDF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helix.kz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Хеликс — анализы и диагностика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olymp.kz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Медцентр Олимп — широкий спектр услуг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HTML, PDF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medel.kz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МЕДЭЛ — многопрофильная клиника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aksai-clinic.kz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Региональные клиники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mck.kz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Медицинский центр МЦК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сайты городских и областных клиник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Государственные и частные клиники РК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HTML, PDF, DOCX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2gis.kz / Google Maps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Адреса, режим работы клиник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/ HTML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28743" y="2848928"/>
            <a:ext cx="6477758" cy="730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medel.kz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МЕДЭЛ — многопрофильная клиника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aksai-clinic.kz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Региональные клиники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mck.kz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Медицинский центр МЦК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сайты городских и областных клиник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Государственные и частные клиники РК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HTML, PDF, DOCX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2gis.kz / Google Maps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Адреса, режим работы клиник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/ HTML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827831" y="1395356"/>
            <a:ext cx="719319" cy="694470"/>
          </a:xfrm>
          <a:custGeom>
            <a:avLst/>
            <a:gdLst/>
            <a:ahLst/>
            <a:cxnLst/>
            <a:rect r="r" b="b" t="t" l="l"/>
            <a:pathLst>
              <a:path h="694470" w="719319">
                <a:moveTo>
                  <a:pt x="0" y="0"/>
                </a:moveTo>
                <a:lnTo>
                  <a:pt x="719319" y="0"/>
                </a:lnTo>
                <a:lnTo>
                  <a:pt x="719319" y="694470"/>
                </a:lnTo>
                <a:lnTo>
                  <a:pt x="0" y="6944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4825" y="2233630"/>
            <a:ext cx="11718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РАҚМЕТ!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2315" y="9184640"/>
            <a:ext cx="654337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www.reallygreatsite.com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99697" y="1507641"/>
            <a:ext cx="523192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Fauget Studio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4167205"/>
            <a:ext cx="18288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MedPrice KZ — медициналық қызметке ең тиімді бағаны табу авиабилет сатып алғандай оңай болуы тиіс.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6386" y="6281120"/>
            <a:ext cx="534967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Пациенттер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Ақшасы мен қымбат уақытын айтарлықтай үнемдейді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327390" y="6281120"/>
            <a:ext cx="454331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Клиникалар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Жаңа және тұрақты клиенттер ағынын тартады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292042" y="6281120"/>
            <a:ext cx="450203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Нарық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Бәсекеге қабілетті, ашық әрі айқын болады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DAHNln2HBuo</dc:identifier>
  <dcterms:modified xsi:type="dcterms:W3CDTF">2011-08-01T06:04:30Z</dcterms:modified>
  <cp:revision>1</cp:revision>
  <dc:title>Grey Clean Minimalist Professional Project Presentation </dc:title>
</cp:coreProperties>
</file>